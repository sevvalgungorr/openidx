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◇  Open</a:t>
            </a:r>
            <a:r>
              <a:rPr sz="2200" b="1">
                <a:solidFill>
                  <a:srgbClr val="60A5FA"/>
                </a:solidFill>
                <a:latin typeface="Segoe UI"/>
              </a:rPr>
              <a:t>IDX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5544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E-İHRACAT DESTEK BAŞVURUSU · TANITIM SUNUMU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011680"/>
            <a:ext cx="1097280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Segoe UI"/>
              </a:rPr>
              <a:t>Dört güvenlik ürününü tek platformda birleştiren,</a:t>
            </a:r>
          </a:p>
          <a:p>
            <a:pPr algn="l">
              <a:spcAft>
                <a:spcPts val="200"/>
              </a:spcAft>
            </a:pPr>
            <a:r>
              <a:rPr sz="4000" b="1">
                <a:solidFill>
                  <a:srgbClr val="60A5FA"/>
                </a:solidFill>
                <a:latin typeface="Segoe UI"/>
              </a:rPr>
              <a:t>self-host siber güvenlik yazılımı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931920"/>
            <a:ext cx="96012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Kimlik (IAM) · Yönetişim (IGA) · Ayrıcalıklı Erişim (PAM) · Sıfır-Güven Ağ (ZTNA) — tek kod tabanı, tek PostgreSQL. Dünya çapında dijital olarak dağıtılan, yerli üretim bir yazılım ürünü.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5029200"/>
            <a:ext cx="6035040" cy="5029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576072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Segoe UI"/>
              </a:rPr>
              <a:t>Olgunluk: MVP–Erken GA · Ücretli pilot ve tasarım-ortağı için hazır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E-İhracat Başvuru Sunumu · OpenIDX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YÖNETICI ÖZETI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Bir bakışta OpenIDX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039112"/>
            <a:ext cx="26974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60A5FA"/>
                </a:solidFill>
                <a:latin typeface="Segoe UI"/>
              </a:rPr>
              <a:t>4→1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926080"/>
            <a:ext cx="2478024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Dört ayrı ürün yerine tek platform (Okta+SailPoint+CyberArk+Zscaler)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8308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2039112"/>
            <a:ext cx="26974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60A5FA"/>
                </a:solidFill>
                <a:latin typeface="Segoe UI"/>
              </a:rPr>
              <a:t>%70-80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8728" y="2926080"/>
            <a:ext cx="2478024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Yığılmış rakip lisans maliyetine göre tasarruf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39112"/>
            <a:ext cx="26974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60A5FA"/>
                </a:solidFill>
                <a:latin typeface="Segoe UI"/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926080"/>
            <a:ext cx="2478024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Self-host · veri müşterinin altyapısında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783080"/>
            <a:ext cx="2697480" cy="17373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039112"/>
            <a:ext cx="26974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60A5FA"/>
                </a:solidFill>
                <a:latin typeface="Segoe UI"/>
              </a:rPr>
              <a:t>SaaS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8008" y="2926080"/>
            <a:ext cx="2478024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Dijital teslimat · kurulum ve lisans çevrimiçi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9476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0E1E18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959352"/>
            <a:ext cx="5084064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Neden ihraç edilebilir bir üründür?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Yazılım = fiziksel gümrük yok; dünyaya dijital kurulur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Açık kaynak çekirdek → küresel geliştirici hunisi (GitHub)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Self-host'u zorunlu kılan her regüle ülke potansiyel pazar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794760"/>
            <a:ext cx="5166360" cy="2286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3959352"/>
            <a:ext cx="4764024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0A5FA"/>
                </a:solidFill>
                <a:latin typeface="Segoe UI"/>
              </a:rPr>
              <a:t>Farklılaştırıcı (moat)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Tek kill-switch: token+oturum+kasa+ağ devresini ≤30 sn'de keser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Rakipler çok-satıcılı entegrasyonla kurarken OpenIDX tek işlemle yapar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E-İhracat Başvuru Sunumu · OpenIDX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BÖLÜM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Projenin e-ihracatla ilişkisi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OpenIDX bir yazılım ürünüdür; ihracatı fiziksel değil, tamamen dijitaldir. Ürün internet üzerinden teslim edilir, lisanslanır ve desteklenir.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4231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569464"/>
            <a:ext cx="5120640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Segoe UI"/>
              </a:rPr>
              <a:t>DIJITAL TESLIMAT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Sınır ötesi, gümrüksüz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Container imajları/kurulum paketleri çevrimiçi dağıtılır. Yurt dışı müşteri kendi altyapısına dakikalar içinde kurar; nakliye/gümrük/stok yok.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423160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569464"/>
            <a:ext cx="5120640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Segoe UI"/>
              </a:rPr>
              <a:t>GELIR MODELI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Yinelenen döviz geliri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Kullanıcı-başı yıllık abonelik (Enterprise), destek/SLA ve uyum eklentileri. Yurt dışı satış = döviz cinsinden yinelenen ihracat geliri.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977639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23943"/>
            <a:ext cx="5120640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Segoe UI"/>
              </a:rPr>
              <a:t>PAZARLAMA KANALI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Açık kaynak küresel huni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Apache-2.0 çekirdek GitHub/Show HN üzerinden dünya çapında geliştiriciye ulaşır, ücretli katmana dönüşür (Infisical/Authentik modeli).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977639"/>
            <a:ext cx="5486400" cy="14173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123943"/>
            <a:ext cx="5120640" cy="11430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Segoe UI"/>
              </a:rPr>
              <a:t>ÖLÇEKLENEBILIRLIK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Marjinal maliyet ≈ 0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Bir yazılım kopyasını 1 veya 1.000 ülkeye satmanın üretim maliyeti aynıdır. Yüksek brüt marjlı, hızlı ölçeklenen ihracat kalemi.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E-İhracat Başvuru Sunumu · OpenIDX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BÖLÜM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Sunulan ürün ve hizmet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9164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37944"/>
            <a:ext cx="233172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Segoe UI"/>
              </a:rPr>
              <a:t>IAM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Kimlik &amp; Erişim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OIDC/OAuth2, SAML 2.0 IdP, SSO, MFA (TOTP, passkey, push, OTP), SCIM 2.0, LDAP/AD/Azure AD senkron, risk-tabanlı + step-up.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9164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837944"/>
            <a:ext cx="233172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Segoe UI"/>
              </a:rPr>
              <a:t>IGA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Yönetişim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Erişim gözden geçirme, SoD, çok-adımlı onay, JIT yükseltme, HR-tetikli Joiner/Mover/Leaver, RBAC/ABAC/OPA.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37944"/>
            <a:ext cx="233172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Segoe UI"/>
              </a:rPr>
              <a:t>PAM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Ayrıcalıklı Erişim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Şifreli kimlik kasası + rotasyon, brokerlı SSH/RDP/VNC, şifreli oturum kaydı, ayrıcalık grafiği, risk-tabanlı askıya alma, dört-göz oturum.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691640"/>
            <a:ext cx="2697480" cy="22860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81160" y="1837944"/>
            <a:ext cx="2331720" cy="2011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Segoe UI"/>
              </a:rPr>
              <a:t>ZTNA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Sıfır-Güven Ağ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OpenZiti overlay ile karanlık servisler (açık port yok), clientless erişim, masaüstü/mobil ajan + posture, reconciler.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20624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0E1E18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370832"/>
            <a:ext cx="5084064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Hizmetler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Kurulum &amp; yapılandırma, yönetilen dağıtım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SLA + öncelikli destek abonelikleri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Uyum paketleri (SOC 2/ISO/KVKK/DORA), premium konnektörler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206240"/>
            <a:ext cx="5166360" cy="18288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4370832"/>
            <a:ext cx="4764024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0A5FA"/>
                </a:solidFill>
                <a:latin typeface="Segoe UI"/>
              </a:rPr>
              <a:t>Teknik temel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Go + PostgreSQL; CI-zorunlu çok-kiracılılık (FORCE RLS)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Kurcalama-belirtir denetim (HMAC hash-zinciri), APISIX, mTLS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E-İhracat Başvuru Sunumu · OpenIDX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486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REKABET FARKI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Tek bir kill-switch komutu; kullanıcının </a:t>
            </a:r>
            <a:r>
              <a:rPr sz="2800" b="1">
                <a:solidFill>
                  <a:srgbClr val="60A5FA"/>
                </a:solidFill>
                <a:latin typeface="Segoe UI"/>
              </a:rPr>
              <a:t>token'larını, oturumlarını, kasa check-out'larını, canlı ayrıcalıklı oturumlarını VE ağ devrelerini</a:t>
            </a:r>
            <a:r>
              <a:rPr sz="2800" b="1">
                <a:solidFill>
                  <a:srgbClr val="FFFFFF"/>
                </a:solidFill>
                <a:latin typeface="Segoe UI"/>
              </a:rPr>
              <a:t> saniyeler içinde keser — çok-satıcılı entegrasyon projesi olarak değil, </a:t>
            </a:r>
            <a:r>
              <a:rPr sz="2800" b="1">
                <a:solidFill>
                  <a:srgbClr val="60A5FA"/>
                </a:solidFill>
                <a:latin typeface="Segoe UI"/>
              </a:rPr>
              <a:t>tek işlemle.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4A3B8"/>
                </a:solidFill>
                <a:latin typeface="Segoe UI"/>
              </a:rPr>
              <a:t>2026 sektör konsolidasyonu (PANW × CyberArk $25 milyar, Okta × Axiom, Delinea × StrongDM) bu birleşik ürünü M&amp;A ile kurmaya çalışıyor. OpenIDX zaten tek kod tabanında birleşik.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E-İhracat Başvuru Sunumu · OpenIDX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BÖLÜM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Hedef pazarlar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00200"/>
            <a:ext cx="1097280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Strateji: regülasyonun self-host'u zorunlu kıldığı pazarlardan başla (en kolay kazanım), sonra maliyet-hassas açık-kaynak-öncelikli kurumlara genişle.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286000"/>
            <a:ext cx="21031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ÖNCELİK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286000"/>
            <a:ext cx="310896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PAZAR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286000"/>
            <a:ext cx="566928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NEDEN OPENIDX KAZANIR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651760"/>
            <a:ext cx="210312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1 · Yurt içi çıpa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651760"/>
            <a:ext cx="310896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Türkiye kamu &amp; regüle sektör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651760"/>
            <a:ext cx="566928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2019/12 Genelge + BDDK/KVKK yurt dışı SaaS IdP'yi yasaklıyor; yerli self-host tek uyumlu yol. İhracat için vitrin.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38144"/>
            <a:ext cx="210312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2 · İhracat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438144"/>
            <a:ext cx="310896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AB — NIS2 / DORA orta ölçek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438144"/>
            <a:ext cx="566928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DORA pratikte PAM zorunluluğu; NIS2 kimlik+ayrıcalıklı erişim+denetim ister. Egemen self-host tek-satıcı boşluğu.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24528"/>
            <a:ext cx="210312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2 · İhracat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224528"/>
            <a:ext cx="310896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Körfez &amp; MENA kamu/finans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224528"/>
            <a:ext cx="566928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Veri yerelleştirme + egemenlik öncelikli bölge; self-host güvenlik yığınına güçlü talep.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10912"/>
            <a:ext cx="210312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3 · İhracat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010912"/>
            <a:ext cx="310896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Küresel MSP'ler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010912"/>
            <a:ext cx="566928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White-label çok-kiracılı ZTNA açık kaynakta yok; FORCE-RLS + ölçüm/geri-faturalama tam oturur.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97296"/>
            <a:ext cx="210312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3 · İhracat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5797296"/>
            <a:ext cx="310896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OSS-öncelikli mühendislik kurumları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797296"/>
            <a:ext cx="5669280" cy="786384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4A3B8"/>
                </a:solidFill>
                <a:latin typeface="Segoe UI"/>
              </a:rPr>
              <a:t>Auth0-yenileme ve Teleport-lisans mültecileri; GitHub/Show HN hunisi.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E-İhracat Başvuru Sunumu · OpenIDX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PAZAR &amp; FIYAT KONUMU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Neden fiyatla kazanır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220E1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01952"/>
            <a:ext cx="5084064" cy="2057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F87171"/>
                </a:solidFill>
                <a:latin typeface="Segoe UI"/>
              </a:rPr>
              <a:t>Alıcının acısı: fiyat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87171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Okta Essentials ~$204/kullanıcı/yıl; governance ek SKU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87171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Auth0: 1.67× kullanıcı → belgelenmiş 15× fatura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87171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CyberArk PAM $1.8K–12K/kullanıcı/yıl, teklif-bazlı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F87171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Teleport: kaynak-başı metering ölçeklenmeyi cezalandırır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5166360" cy="2331720"/>
          </a:xfrm>
          <a:prstGeom prst="roundRect">
            <a:avLst>
              <a:gd name="adj" fmla="val 6000"/>
            </a:avLst>
          </a:prstGeom>
          <a:solidFill>
            <a:srgbClr val="0E1E18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1901952"/>
            <a:ext cx="4764024" cy="2057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OpenIDX yanıtı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Enterprise ~$4–6/kullanıcı/ay, sabit maliyet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Yığılmış rakip $33–65 → %70–80 tasarruf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Community sonsuza dek Apache-2.0 (huni)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Kilitlenme yok, veri egemenliği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34340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4489704"/>
            <a:ext cx="2368296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Community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Ücretsiz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Tüm çekirdek, self-host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34340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4489704"/>
            <a:ext cx="2368296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Enterprise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$4–6 /kul/ay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SLA, uyum, premium konnektör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434340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4489704"/>
            <a:ext cx="2368296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MSP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Kiracı + ölçüm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White-label çok-kiracı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4343400"/>
            <a:ext cx="2697480" cy="16916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4489704"/>
            <a:ext cx="2368296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0A5FA"/>
                </a:solidFill>
                <a:latin typeface="Segoe UI"/>
              </a:rPr>
              <a:t>Kamu/Savunma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Proje-bazlı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Uyumlu self-host, yerli malı, FIPS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E-İhracat Başvuru Sunumu · OpenIDX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BÖLÜM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Mevcut gelişim aşaması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7772400" cy="4572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7498079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FBBF24"/>
                </a:solidFill>
                <a:latin typeface="Segoe UI"/>
              </a:rPr>
              <a:t>Olgunluk: MVP–Erken GA · çekirdek gerçek ve büyük ölçüde üretim kalitesinde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28600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0E1E18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450592"/>
            <a:ext cx="5084064" cy="1874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Hazır &amp; çalışır (kod-doğrulanmış)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Dört sütun canlı; tek Postgres referans ortam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PAM derinliği: ayrıcalık grafiği, risk-askıya alma, dört-göz, şifreli kayıt — canlı doğrulandı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Native erişim: kısa-ömürlü SSH sertifikası CLI (openidx-connect)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CI-zorunlu çok-kiracılılık, kurcalama-belirtir denetim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286000"/>
            <a:ext cx="5166360" cy="21488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2450592"/>
            <a:ext cx="4764024" cy="18745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0A5FA"/>
                </a:solidFill>
                <a:latin typeface="Segoe UI"/>
              </a:rPr>
              <a:t>Devam eden yol haritası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DB/K8s/cloud oturum brokerları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ChatOps onayları, AI-agent erişim derinliği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Uyum: Pentest → ISO 27001 → SOC 2 Type II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CRA (AB Siber Dayanıklılık Yasası) hazırlığı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66344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919472"/>
            <a:ext cx="26974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60A5FA"/>
                </a:solidFill>
                <a:latin typeface="Segoe UI"/>
              </a:rPr>
              <a:t>Canlı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806440"/>
            <a:ext cx="2478024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Üretim benzeri referans ortam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466344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4919472"/>
            <a:ext cx="26974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60A5FA"/>
                </a:solidFill>
                <a:latin typeface="Segoe UI"/>
              </a:rPr>
              <a:t>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38728" y="5806440"/>
            <a:ext cx="2478024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Ücretli pilot &amp; tasarım-ortağı için hazır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466344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4919472"/>
            <a:ext cx="26974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60A5FA"/>
                </a:solidFill>
                <a:latin typeface="Segoe UI"/>
              </a:rPr>
              <a:t>Açık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5806440"/>
            <a:ext cx="2478024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Apache-2.0 çekirdek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4663440"/>
            <a:ext cx="2697480" cy="14173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4919472"/>
            <a:ext cx="269748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3400" b="1">
                <a:solidFill>
                  <a:srgbClr val="60A5FA"/>
                </a:solidFill>
                <a:latin typeface="Segoe UI"/>
              </a:rPr>
              <a:t>Yerli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5806440"/>
            <a:ext cx="2478024" cy="228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Tamamen yerli geliştirme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E-İhracat Başvuru Sunumu · OpenIDX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BBF24"/>
                </a:solidFill>
                <a:latin typeface="Segoe UI"/>
              </a:rPr>
              <a:t>BÖLÜM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Global büyüme hedefleri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45920"/>
            <a:ext cx="2468880" cy="7315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Yurt içi vitrin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783080"/>
            <a:ext cx="29260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  <a:latin typeface="Segoe U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55848" y="1645920"/>
            <a:ext cx="2468880" cy="7315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84708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AB (NIS2/DORA)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4728" y="1783080"/>
            <a:ext cx="29260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17336" y="1645920"/>
            <a:ext cx="2468880" cy="7315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17336" y="184708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Körfez/MENA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6216" y="1783080"/>
            <a:ext cx="292608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>
                <a:solidFill>
                  <a:srgbClr val="60A5FA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78824" y="1645920"/>
            <a:ext cx="2468880" cy="7315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78824" y="184708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Küresel MSP + OSS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74320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89504"/>
            <a:ext cx="32004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Segoe UI"/>
              </a:rPr>
              <a:t>HEDEF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Yıl-2: $1–2M ARR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30–60 ihracat + yurt içi müşteri. Zitadel/NetBird/Infisical su hattı.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274320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98848" y="2889504"/>
            <a:ext cx="32004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Segoe UI"/>
              </a:rPr>
              <a:t>KANAL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Açık kaynak huni + iş ortakları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GitHub/Show HN küresel görünürlük; yerel entegratörler; MSP white-label.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5" y="274320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5" y="2889504"/>
            <a:ext cx="32004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60A5FA"/>
                </a:solidFill>
                <a:latin typeface="Segoe UI"/>
              </a:rPr>
              <a:t>GÜVEN ZARFI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Uluslararası sertifikalar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ISO 27001, SOC 2 Type II, CRA hazırlığı — kurumsal satış önkoşulu.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526280"/>
            <a:ext cx="5486400" cy="1737360"/>
          </a:xfrm>
          <a:prstGeom prst="roundRect">
            <a:avLst>
              <a:gd name="adj" fmla="val 6000"/>
            </a:avLst>
          </a:prstGeom>
          <a:solidFill>
            <a:srgbClr val="0E1E18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4690872"/>
            <a:ext cx="5084064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E-ihracat desteğinin katkısı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Yurt dışı dijital pazarlama, çok-dilli içerik, SEO/topluluk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Uluslararası sertifikasyon ve hedef-pazar uyum danışmanlığı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Yurt dışı fuar/etkinlik ve iş ortağı ağı geliştirme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26280"/>
            <a:ext cx="5166360" cy="17373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4690872"/>
            <a:ext cx="4764024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60A5FA"/>
                </a:solidFill>
                <a:latin typeface="Segoe UI"/>
              </a:rPr>
              <a:t>Ölçülebilir çıktı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Yurt dışı ödemeli müşteri sayısı ve döviz geliri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60A5FA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Aktif ülke sayısı ve topluluk (GitHub) büyüklüğü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E-İhracat Başvuru Sunumu · OpenIDX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40080"/>
            <a:ext cx="54864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◇  Open</a:t>
            </a:r>
            <a:r>
              <a:rPr sz="2200" b="1">
                <a:solidFill>
                  <a:srgbClr val="60A5FA"/>
                </a:solidFill>
                <a:latin typeface="Segoe UI"/>
              </a:rPr>
              <a:t>IDX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737360"/>
            <a:ext cx="109728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Yerli üretim, self-host, dört-sütunlu siber güvenlik</a:t>
            </a:r>
          </a:p>
          <a:p>
            <a:pPr algn="l">
              <a:spcAft>
                <a:spcPts val="200"/>
              </a:spcAft>
            </a:pPr>
            <a:r>
              <a:rPr sz="3400" b="1">
                <a:solidFill>
                  <a:srgbClr val="60A5FA"/>
                </a:solidFill>
                <a:latin typeface="Segoe UI"/>
              </a:rPr>
              <a:t>platformu — dijital ihracata hazır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3474720"/>
            <a:ext cx="8686800" cy="1828800"/>
          </a:xfrm>
          <a:prstGeom prst="roundRect">
            <a:avLst>
              <a:gd name="adj" fmla="val 6000"/>
            </a:avLst>
          </a:prstGeom>
          <a:solidFill>
            <a:srgbClr val="0E1E18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639312"/>
            <a:ext cx="8284464" cy="1554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34D399"/>
                </a:solidFill>
                <a:latin typeface="Segoe UI"/>
              </a:rPr>
              <a:t>Özet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Dört ürün tek platformda, %70–80 daha uygun maliyet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Regülasyonun self-host'u zorunlu kıldığı küresel pazarlar hedefte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34D399"/>
                </a:solidFill>
                <a:latin typeface="Segoe UI"/>
              </a:rPr>
              <a:t>• </a:t>
            </a:r>
            <a:r>
              <a:rPr sz="1300" b="0">
                <a:solidFill>
                  <a:srgbClr val="E2E8F0"/>
                </a:solidFill>
                <a:latin typeface="Segoe UI"/>
              </a:rPr>
              <a:t>MVP–Erken GA; ücretli pilot ve global büyümeye hazır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48640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İletişim · </a:t>
            </a:r>
            <a:r>
              <a:rPr sz="1600" b="1">
                <a:solidFill>
                  <a:srgbClr val="FFFFFF"/>
                </a:solidFill>
                <a:latin typeface="Segoe UI"/>
              </a:rPr>
              <a:t>openidx.tdv.org</a:t>
            </a:r>
            <a:r>
              <a:rPr sz="1600" b="0">
                <a:solidFill>
                  <a:srgbClr val="94A3B8"/>
                </a:solidFill>
                <a:latin typeface="Segoe UI"/>
              </a:rPr>
              <a:t> · github.com/mhmtgngr/openidx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E-İhracat Başvuru Sunumu · OpenIDX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7315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